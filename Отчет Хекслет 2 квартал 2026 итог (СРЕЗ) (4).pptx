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ulish"/>
      <p:regular r:id="rId24"/>
      <p:bold r:id="rId25"/>
      <p:italic r:id="rId26"/>
      <p:boldItalic r:id="rId27"/>
    </p:embeddedFont>
    <p:embeddedFont>
      <p:font typeface="Mulish SemiBold"/>
      <p:regular r:id="rId28"/>
      <p:bold r:id="rId29"/>
      <p:italic r:id="rId30"/>
      <p:boldItalic r:id="rId31"/>
    </p:embeddedFont>
    <p:embeddedFont>
      <p:font typeface="Mulish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ulish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ulish-italic.fntdata"/><Relationship Id="rId25" Type="http://schemas.openxmlformats.org/officeDocument/2006/relationships/font" Target="fonts/Mulish-bold.fntdata"/><Relationship Id="rId28" Type="http://schemas.openxmlformats.org/officeDocument/2006/relationships/font" Target="fonts/MulishSemiBold-regular.fntdata"/><Relationship Id="rId27" Type="http://schemas.openxmlformats.org/officeDocument/2006/relationships/font" Target="fonts/Mulish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ulish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ulishSemiBold-boldItalic.fntdata"/><Relationship Id="rId30" Type="http://schemas.openxmlformats.org/officeDocument/2006/relationships/font" Target="fonts/MulishSemiBold-italic.fntdata"/><Relationship Id="rId11" Type="http://schemas.openxmlformats.org/officeDocument/2006/relationships/slide" Target="slides/slide6.xml"/><Relationship Id="rId33" Type="http://schemas.openxmlformats.org/officeDocument/2006/relationships/font" Target="fonts/MulishMedium-bold.fntdata"/><Relationship Id="rId10" Type="http://schemas.openxmlformats.org/officeDocument/2006/relationships/slide" Target="slides/slide5.xml"/><Relationship Id="rId32" Type="http://schemas.openxmlformats.org/officeDocument/2006/relationships/font" Target="fonts/MulishMedium-regular.fntdata"/><Relationship Id="rId13" Type="http://schemas.openxmlformats.org/officeDocument/2006/relationships/slide" Target="slides/slide8.xml"/><Relationship Id="rId35" Type="http://schemas.openxmlformats.org/officeDocument/2006/relationships/font" Target="fonts/Mulish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ulish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17300372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17300372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Общая статистика (Оценки ≤ 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Всего респондентов: 900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Общее количество критиков (≤ 6): 156 (17,3% от общего числа)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Оставили содержательный отзыв: 83 чел. (53,2% от критиков)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обратную связь: 73 чел. (46,8% от критиков)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Структура негатива (по количеству упоминаний среди 83 отзывов)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Нестабильное расписание и организация (~22 упоминания)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Студенты жалуются на «рваный» график: пары могут заканчиваться в 20:00–20:30, а на следующий день начинаться в 9:00.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Расписание выгружается поздно (в воскресенье вечером), что мешает планировать работу и жизнь.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Внезапные изменения пар прямо перед их началом.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Качество преподавания и вовлеченность (~18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Жалобы на преподавателей, которые приходят «чисто начать пару и уйти», читают текст с листочка или слайдов.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Персональная критика: Чувашов (не объясняет материал), Насртдинова (кричит, быстро пролистывает слайды), Сафонова (дает «0 знаний»).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Учебная программа и лишние предметы (~14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Переизбыток общеобразовательных предметов (ОБЖ, история, право, физика) в ущерб программированию.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Отсутствие обещанного разделения на Back-end и Mobile разработку — всех учат по программе Front-end.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Слишком много «писанины» и конспектов в тетрадях вместо практики на компьютерах.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Технические платформы (LMS / Moodle) (~12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Системы называют «сырыми»: баллы в Moodle и LMS не совпадают, оценки пропадают, курсы путаются.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Интерфейс Moodle считают неудобным и перегруженным лишним функционалом.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Инфраструктура и локация (~10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Физкультура: Спортзалы находятся очень далеко от колледжа (ехать до 20–30 минут), что вызывает резкое недовольство в НСК и СПб.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Быт: Грязные туалеты, неработающие краны, отсутствие туалетной бумаги и стаканчиков у кулеров.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Здание: Теснота в коридорах и отсутствие столовой (особенно в Ростове и Москве).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Производственная практика и стажировки (~6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Несоответствие профилю: студентов-фронтендеров отправляют на практику, связанную с 3D/VR или в компании-пустышки с одним сотрудником.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Непрозрачный отбор на практику и игнорирование вопросов кураторами практики (например, Д. Шандыба).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/>
              <a:t>Финансовое недовольство (~5 упоминаний)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Студенты считают, что цена обучения (200 000+ руб. в год) не соответствует уровню организации и качеству оборудования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195b6d61b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195b6d61b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6fd620221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6fd620221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1. Санкт-Петербург (101 критик)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Самый большой массив жалоб, где основное недовольство вызвано организационными сбоями и конкретными кадрами.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содержательный отзыв: ~53 чел. (52,5%) — поставили точку, прочерк или оставили поле пустым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Нестабильное расписание: 15 чел. (14,8%) — жалобы на выгрузку графика в воскресенье вечером и пары до 20:30, мешающие планированию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Преподавательский состав: 13 чел. (12,9%) — острая критика ИТ-преподавателей (Чувашов) и математиков (Насртдинова) за отсутствие объяснений и крики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Технические системы (LMS/Moodle): 9 чел. (8,9%) — путаница с баллами, пропадающие оценки и неудобный интерфейс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Бытовые условия и инфраструктура: 8 чел. (7,9%) — неработающие краны, грязные туалеты, отсутствие столовой и удаленность спортзала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Прочее (Программа/Стоимость): 3 чел. (3,0%) — избыток теории и высокая цена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95b6d61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195b6d61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a8387031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a8387031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4. Москва (8 критиков)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Жалобы связаны в основном с инфраструктурной зависимостью.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содержательный отзыв: 4 чел. (50,0%)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Зависимость от МГОК и цена: 3 чел. (37,5%) — неоправданно высокая стоимость за «вторичные» условия на базе партнера (теснота, запахи в столовой)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Программа обучения: 1 чел. (12,5%) — переизбыток общеобразовательных предметов на старте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195b6d61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195b6d61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6fd620221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6fd620221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Новосибирск (23 критика)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 НСК негатив сфокусирован на географии и административном подходе.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содержательный отзыв: 9 чел. (39,1%)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Локация и физкультура: 6 чел. (26,1%) — спортзал на другом конце города и новости о переезде колледжа в «захолустье»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Преподаватели и руководство: 4 чел. (17,4%) — жалобы на «неискренность» администрации, незаинтересованность Богомолова и агрессию физрука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Организация и оборудование: 4 чел. (17,4%) — проблемы с отоплением зимой, неработающие ПК и отсутствие стаканчиков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195b6d61b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195b6d61b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a8387031a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a8387031a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Ростов-на-Дону (3 критика)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Локальные жалобы на бытовой дискомфорт после переезда.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содержательный отзыв: 1 чел. (33,3%)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Инфраструктура: 2 чел. (66,7%) — острая нехватка зоны отдыха, микроволновки и столовой в новом здании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195b6d61b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195b6d61b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e991e0b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9e991e0b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Онлайн / Очно-заочное (21 критик)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Здесь студенты наиболее требовательны к качеству контента и организации практики.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Не оставили содержательный отзыв: 8 чел. (38,1%)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Технические сбои и тесты: 5 чел. (23,8%) — ошибки в асинхронных тестах (английский) и «сырость» платформ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Проблемы с практикой: 4 чел. (19,0%) — отправка фронтендеров на 3D-практику и игнорирование вопросов кураторами практики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Организационный хаос: 4 чел. (19,0%) — изменения цен, рваный график онлайн-пар и отсутствие обещанных специализаций (Backend/Mobile)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2f73d3847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2f73d384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42a7e23e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42a7e23e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42a7e23e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42a7e23e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f2bfc09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f2bfc09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Кураторы получили одну из самых высоких оценок — 4,80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Причины повышения: Студенты воспринимают кураторов как «лучших друзей», ценят их поддержку в сложных жизненных ситуациях и оперативность в мессенджерах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Зона риска: Жалобы на текучку кадров среди кураторов (особенно в онлайне), из-за чего теряется персональный контакт и доверие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f2bfc09e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f2bfc09e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Распределение преподавателей: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Зеленая зона (&gt;4,5) — </a:t>
            </a:r>
            <a:r>
              <a:rPr lang="ru"/>
              <a:t>50</a:t>
            </a:r>
            <a:r>
              <a:rPr lang="ru"/>
              <a:t> человек. Это более половины всех преподавателей, которые демонстрируют стабильно высокий уровень.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Желтая зона (4,0–4,5) — </a:t>
            </a:r>
            <a:r>
              <a:rPr lang="ru"/>
              <a:t>32</a:t>
            </a:r>
            <a:r>
              <a:rPr lang="ru"/>
              <a:t> человек. Это резерв для перехода в зеленую зону при небольшой коррекции подходов.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Красная зона (&lt;4,0) — 4 человек. Требуют повышенного внимания и адресной поддержки.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Итоговая оценка — </a:t>
            </a:r>
            <a:r>
              <a:rPr lang="ru"/>
              <a:t>4,56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Зоны роста: Несмотря на жалобы, студенты высоко оценивают экспертность преподавателей (4,63) и их понятную речь (4,54), выделяя практиков из IT-индустрии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Преподаватели в красной зоне: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Антипова Е.В.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Закирова Д.Ф.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Орел С.А.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Астаева А.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95b6d61b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195b6d61b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195b6d61b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195b6d61b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80100" y="1175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65150" y="735300"/>
            <a:ext cx="87915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Mulish Medium"/>
                <a:ea typeface="Mulish Medium"/>
                <a:cs typeface="Mulish Medium"/>
                <a:sym typeface="Mulish Medium"/>
              </a:rPr>
              <a:t>Цель: </a:t>
            </a:r>
            <a:r>
              <a:rPr lang="ru" sz="1100">
                <a:latin typeface="Mulish Medium"/>
                <a:ea typeface="Mulish Medium"/>
                <a:cs typeface="Mulish Medium"/>
                <a:sym typeface="Mulish Medium"/>
              </a:rPr>
              <a:t>получить честную обратную связь от студентов  и оценить колледж со стороны</a:t>
            </a:r>
            <a:endParaRPr sz="1300"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студенты (общий) по РФ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8" name="Google Shape;58;p13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200" y="1957100"/>
            <a:ext cx="5000949" cy="28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00" y="2037725"/>
            <a:ext cx="3684225" cy="26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65138" y="1169075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47,67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8,44 </a:t>
            </a:r>
            <a:r>
              <a:rPr lang="ru" sz="1800">
                <a:solidFill>
                  <a:srgbClr val="4254F1"/>
                </a:solidFill>
              </a:rPr>
              <a:t>             </a:t>
            </a:r>
            <a:r>
              <a:rPr b="1" lang="ru" sz="1800">
                <a:solidFill>
                  <a:schemeClr val="dk1"/>
                </a:solidFill>
              </a:rPr>
              <a:t>900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- Родители </a:t>
            </a: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(общий) по РФ</a:t>
            </a: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165150" y="96775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65,48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8,94</a:t>
            </a:r>
            <a:r>
              <a:rPr lang="ru" sz="1800">
                <a:solidFill>
                  <a:srgbClr val="4254F1"/>
                </a:solidFill>
              </a:rPr>
              <a:t>              </a:t>
            </a:r>
            <a:r>
              <a:rPr b="1" lang="ru" sz="1800">
                <a:solidFill>
                  <a:schemeClr val="dk1"/>
                </a:solidFill>
              </a:rPr>
              <a:t>197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9100" y="7866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71" name="Google Shape;71;p14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50" y="1795325"/>
            <a:ext cx="3922650" cy="305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1285" y="1654627"/>
            <a:ext cx="4684467" cy="28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0" name="Google Shape;80;p15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50" y="1696525"/>
            <a:ext cx="3945825" cy="279557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65138" y="91835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44,71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8,32</a:t>
            </a:r>
            <a:r>
              <a:rPr lang="ru" sz="1800">
                <a:solidFill>
                  <a:srgbClr val="4254F1"/>
                </a:solidFill>
              </a:rPr>
              <a:t>             </a:t>
            </a:r>
            <a:r>
              <a:rPr lang="ru" sz="1800">
                <a:solidFill>
                  <a:srgbClr val="4254F1"/>
                </a:solidFill>
              </a:rPr>
              <a:t> </a:t>
            </a:r>
            <a:r>
              <a:rPr b="1" lang="ru" sz="1800">
                <a:solidFill>
                  <a:schemeClr val="dk1"/>
                </a:solidFill>
              </a:rPr>
              <a:t>510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211025" y="30352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Санкт-Петербург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84" name="Google Shape;84;p15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0250" y="1788188"/>
            <a:ext cx="5100900" cy="27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- Родители 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119100" y="11417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63,75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8,89</a:t>
            </a:r>
            <a:r>
              <a:rPr lang="ru" sz="1800">
                <a:solidFill>
                  <a:srgbClr val="4254F1"/>
                </a:solidFill>
              </a:rPr>
              <a:t>             </a:t>
            </a:r>
            <a:r>
              <a:rPr lang="ru" sz="1800">
                <a:solidFill>
                  <a:srgbClr val="4254F1"/>
                </a:solidFill>
              </a:rPr>
              <a:t> </a:t>
            </a:r>
            <a:r>
              <a:rPr b="1" lang="ru" sz="1800">
                <a:solidFill>
                  <a:schemeClr val="dk1"/>
                </a:solidFill>
              </a:rPr>
              <a:t>80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119100" y="7866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Санкт-Петербург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5" name="Google Shape;95;p16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0" y="1875875"/>
            <a:ext cx="4016499" cy="278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976" y="1713425"/>
            <a:ext cx="4373199" cy="2704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165138" y="912975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44,23</a:t>
            </a:r>
            <a:r>
              <a:rPr b="1" lang="ru" sz="1800">
                <a:solidFill>
                  <a:schemeClr val="dk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8,19</a:t>
            </a:r>
            <a:r>
              <a:rPr b="1" lang="ru" sz="1800">
                <a:solidFill>
                  <a:schemeClr val="dk1"/>
                </a:solidFill>
              </a:rPr>
              <a:t>              </a:t>
            </a:r>
            <a:r>
              <a:rPr b="1" lang="ru" sz="1800">
                <a:solidFill>
                  <a:schemeClr val="dk1"/>
                </a:solidFill>
              </a:rPr>
              <a:t>52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0125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551950" y="30352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Москва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07" name="Google Shape;107;p17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9575"/>
            <a:ext cx="4138101" cy="27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775" y="1697175"/>
            <a:ext cx="4999374" cy="290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- Родители 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119100" y="11417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72,00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8,68</a:t>
            </a:r>
            <a:r>
              <a:rPr lang="ru" sz="1800">
                <a:solidFill>
                  <a:srgbClr val="4254F1"/>
                </a:solidFill>
              </a:rPr>
              <a:t>              </a:t>
            </a:r>
            <a:r>
              <a:rPr b="1" lang="ru" sz="1800">
                <a:solidFill>
                  <a:schemeClr val="dk1"/>
                </a:solidFill>
              </a:rPr>
              <a:t>25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19100" y="7866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Москва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9" name="Google Shape;119;p18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40600"/>
            <a:ext cx="4046874" cy="305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5800" y="1788200"/>
            <a:ext cx="4275501" cy="272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</a:t>
            </a:r>
            <a:endParaRPr>
              <a:solidFill>
                <a:srgbClr val="674EA7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4828488" y="1235475"/>
            <a:ext cx="37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65138" y="8754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48,85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8,53 </a:t>
            </a:r>
            <a:r>
              <a:rPr lang="ru" sz="1800">
                <a:solidFill>
                  <a:srgbClr val="4254F1"/>
                </a:solidFill>
              </a:rPr>
              <a:t>             </a:t>
            </a:r>
            <a:r>
              <a:rPr lang="ru" sz="1800">
                <a:solidFill>
                  <a:srgbClr val="4254F1"/>
                </a:solidFill>
              </a:rPr>
              <a:t> </a:t>
            </a:r>
            <a:r>
              <a:rPr b="1" lang="ru" sz="1800">
                <a:solidFill>
                  <a:schemeClr val="dk1"/>
                </a:solidFill>
              </a:rPr>
              <a:t>131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243275" y="30352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Новосибирск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32" name="Google Shape;132;p19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63225"/>
            <a:ext cx="4041474" cy="28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475" y="1697175"/>
            <a:ext cx="4950126" cy="28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- Родители 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119100" y="11417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46,43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8,41</a:t>
            </a:r>
            <a:r>
              <a:rPr lang="ru" sz="1800">
                <a:solidFill>
                  <a:srgbClr val="4254F1"/>
                </a:solidFill>
              </a:rPr>
              <a:t>              </a:t>
            </a:r>
            <a:r>
              <a:rPr b="1" lang="ru" sz="1800">
                <a:solidFill>
                  <a:schemeClr val="dk1"/>
                </a:solidFill>
              </a:rPr>
              <a:t>28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119100" y="7866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Новосибирск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4" name="Google Shape;144;p20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0" y="1924050"/>
            <a:ext cx="4187676" cy="305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4475" y="1715525"/>
            <a:ext cx="4499199" cy="278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</a:t>
            </a:r>
            <a:r>
              <a:rPr lang="ru">
                <a:solidFill>
                  <a:srgbClr val="674EA7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>
              <a:solidFill>
                <a:srgbClr val="674EA7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165138" y="859275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83,54</a:t>
            </a:r>
            <a:r>
              <a:rPr b="1" lang="ru" sz="1800">
                <a:solidFill>
                  <a:schemeClr val="dk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9,51</a:t>
            </a:r>
            <a:r>
              <a:rPr b="1" lang="ru" sz="1800">
                <a:solidFill>
                  <a:schemeClr val="dk1"/>
                </a:solidFill>
              </a:rPr>
              <a:t>               </a:t>
            </a:r>
            <a:r>
              <a:rPr b="1" lang="ru" sz="1800">
                <a:solidFill>
                  <a:schemeClr val="dk1"/>
                </a:solidFill>
              </a:rPr>
              <a:t>79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3457975" y="30352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Ростов-на-Дону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55" name="Google Shape;155;p21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34975"/>
            <a:ext cx="4012356" cy="28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3275" y="1834975"/>
            <a:ext cx="4857426" cy="27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 - Родители  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119100" y="11417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73,02</a:t>
            </a:r>
            <a:r>
              <a:rPr lang="ru" sz="1800">
                <a:solidFill>
                  <a:srgbClr val="4254F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9,27</a:t>
            </a:r>
            <a:r>
              <a:rPr lang="ru" sz="1800">
                <a:solidFill>
                  <a:srgbClr val="4254F1"/>
                </a:solidFill>
              </a:rPr>
              <a:t>              </a:t>
            </a:r>
            <a:r>
              <a:rPr b="1" lang="ru" sz="1800">
                <a:solidFill>
                  <a:schemeClr val="dk1"/>
                </a:solidFill>
              </a:rPr>
              <a:t>63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119100" y="748100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Ростов-на-Дону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4828500" y="68947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67" name="Google Shape;167;p22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0" y="1849475"/>
            <a:ext cx="3864675" cy="28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3125" y="1737650"/>
            <a:ext cx="4419324" cy="272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>
            <p:ph type="title"/>
          </p:nvPr>
        </p:nvSpPr>
        <p:spPr>
          <a:xfrm>
            <a:off x="165150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Показатели NPS</a:t>
            </a:r>
            <a:endParaRPr>
              <a:solidFill>
                <a:srgbClr val="674EA7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165150" y="929100"/>
            <a:ext cx="3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NPS                     Оценка                Количество</a:t>
            </a:r>
            <a:endParaRPr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41,18</a:t>
            </a:r>
            <a:r>
              <a:rPr b="1" lang="ru" sz="1800">
                <a:solidFill>
                  <a:schemeClr val="dk1"/>
                </a:solidFill>
              </a:rPr>
              <a:t>           </a:t>
            </a:r>
            <a:r>
              <a:rPr b="1" lang="ru" sz="1800">
                <a:solidFill>
                  <a:schemeClr val="dk1"/>
                </a:solidFill>
              </a:rPr>
              <a:t>8,37</a:t>
            </a:r>
            <a:r>
              <a:rPr b="1" lang="ru" sz="1800">
                <a:solidFill>
                  <a:schemeClr val="dk1"/>
                </a:solidFill>
              </a:rPr>
              <a:t>               </a:t>
            </a:r>
            <a:r>
              <a:rPr b="1" lang="ru" sz="1800">
                <a:solidFill>
                  <a:schemeClr val="dk1"/>
                </a:solidFill>
              </a:rPr>
              <a:t>119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3458425" y="303525"/>
            <a:ext cx="335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Онлайн</a:t>
            </a:r>
            <a:r>
              <a:rPr lang="ru" sz="18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	 ( +о-з)						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78" name="Google Shape;178;p23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86200"/>
            <a:ext cx="4424850" cy="277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7900" y="1886200"/>
            <a:ext cx="4352799" cy="2691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259375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CSAT</a:t>
            </a:r>
            <a:r>
              <a:rPr lang="ru" sz="2500">
                <a:solidFill>
                  <a:srgbClr val="7F61DD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5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РФ</a:t>
            </a:r>
            <a:endParaRPr sz="25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206275" y="719175"/>
            <a:ext cx="86943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Цель</a:t>
            </a: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: Выявить насколько удовлетворены студенты работой отделов.</a:t>
            </a:r>
            <a:endParaRPr b="1" sz="202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Результат: </a:t>
            </a:r>
            <a:r>
              <a:rPr lang="ru" sz="20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000"/>
              <a:t> </a:t>
            </a:r>
            <a:endParaRPr sz="2000"/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88" name="Google Shape;188;p24" title="Диаграмм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0" y="2190650"/>
            <a:ext cx="4267200" cy="26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 title="Диаграмма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150" y="2190650"/>
            <a:ext cx="4430826" cy="2739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259375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CSAT</a:t>
            </a:r>
            <a:r>
              <a:rPr lang="ru" sz="2500">
                <a:solidFill>
                  <a:srgbClr val="7F61DD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5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РФ</a:t>
            </a:r>
            <a:endParaRPr sz="25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206275" y="719175"/>
            <a:ext cx="86943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Цель</a:t>
            </a: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: Выявить насколько удовлетворены студенты работой отделов.</a:t>
            </a:r>
            <a:endParaRPr b="1" sz="202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Результат: </a:t>
            </a:r>
            <a:r>
              <a:rPr lang="ru" sz="20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000"/>
              <a:t> </a:t>
            </a:r>
            <a:endParaRPr sz="2000"/>
          </a:p>
        </p:txBody>
      </p:sp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98" name="Google Shape;198;p25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375" y="1887125"/>
            <a:ext cx="4312626" cy="301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 title="Диаграмма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5750" y="2039925"/>
            <a:ext cx="4312626" cy="2665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259375" y="21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CSAT</a:t>
            </a:r>
            <a:r>
              <a:rPr lang="ru" sz="2500">
                <a:solidFill>
                  <a:srgbClr val="7F61DD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5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РФ</a:t>
            </a:r>
            <a:endParaRPr sz="25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206275" y="719175"/>
            <a:ext cx="86943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Цель</a:t>
            </a: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: Выявить насколько удовлетворены студенты работой отделов.</a:t>
            </a:r>
            <a:endParaRPr b="1" sz="202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latin typeface="Mulish Medium"/>
                <a:ea typeface="Mulish Medium"/>
                <a:cs typeface="Mulish Medium"/>
                <a:sym typeface="Mulish Medium"/>
              </a:rPr>
              <a:t>Результат: </a:t>
            </a:r>
            <a:r>
              <a:rPr lang="ru" sz="2000">
                <a:solidFill>
                  <a:schemeClr val="dk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" sz="2000"/>
              <a:t> </a:t>
            </a:r>
            <a:endParaRPr sz="2000"/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08" name="Google Shape;208;p26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0" y="1867000"/>
            <a:ext cx="4443099" cy="301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 title="Диаграмма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8600" y="2185800"/>
            <a:ext cx="4194525" cy="259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165150" y="20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Оценка работы кураторов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204825" y="719900"/>
            <a:ext cx="8939100" cy="14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900">
                <a:latin typeface="Mulish"/>
                <a:ea typeface="Mulish"/>
                <a:cs typeface="Mulish"/>
                <a:sym typeface="Mulish"/>
              </a:rPr>
              <a:t>Цель:</a:t>
            </a:r>
            <a:r>
              <a:rPr b="1" lang="ru" sz="900"/>
              <a:t> </a:t>
            </a:r>
            <a:r>
              <a:rPr lang="ru" sz="900">
                <a:latin typeface="Mulish SemiBold"/>
                <a:ea typeface="Mulish SemiBold"/>
                <a:cs typeface="Mulish SemiBold"/>
                <a:sym typeface="Mulish SemiBold"/>
              </a:rPr>
              <a:t>Получить обратную связь по работе кураторов.</a:t>
            </a:r>
            <a:endParaRPr sz="900"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/>
              <a:t>Результат: </a:t>
            </a:r>
            <a:r>
              <a:rPr b="1" lang="ru" sz="9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-27600" y="4496025"/>
            <a:ext cx="9199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800">
                <a:solidFill>
                  <a:srgbClr val="434343"/>
                </a:solidFill>
                <a:latin typeface="Mulish"/>
                <a:ea typeface="Mulish"/>
                <a:cs typeface="Mulish"/>
                <a:sym typeface="Mulish"/>
              </a:rPr>
              <a:t>Критерии оценки:</a:t>
            </a:r>
            <a:endParaRPr b="1" i="1" sz="800">
              <a:solidFill>
                <a:srgbClr val="434343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800">
                <a:solidFill>
                  <a:srgbClr val="434343"/>
                </a:solidFill>
                <a:latin typeface="Mulish Medium"/>
                <a:ea typeface="Mulish Medium"/>
                <a:cs typeface="Mulish Medium"/>
                <a:sym typeface="Mulish Medium"/>
              </a:rPr>
              <a:t>•качество информирования куратором о важных событиях и иной информации; •качество проведения классных часов; •качество контакта куратора с группой и тобой; •качество индивидуальной работы куратора с тобой; •уровень комфорта в группе; •уровень доверия к куратору.</a:t>
            </a:r>
            <a:endParaRPr i="1" sz="1300">
              <a:solidFill>
                <a:srgbClr val="434343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9" name="Google Shape;219;p27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00" y="1667463"/>
            <a:ext cx="4121199" cy="28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200" y="1508125"/>
            <a:ext cx="5022726" cy="303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4681400" y="2340850"/>
            <a:ext cx="43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Динамика показателей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32300" y="2371650"/>
            <a:ext cx="43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</a:t>
            </a: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квартал 2026 года</a:t>
            </a:r>
            <a:endParaRPr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227" name="Google Shape;2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242700" y="821313"/>
            <a:ext cx="8901300" cy="16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76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Цель: получить объективную оценку компетентности преподавателей</a:t>
            </a:r>
            <a:endParaRPr sz="4876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76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II квартал 2025 г.: </a:t>
            </a:r>
            <a:endParaRPr sz="4476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Экспертность (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4,63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) — высокий профессионализм.</a:t>
            </a:r>
            <a:b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</a:b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Речь (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4,54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) — понятная и комфортная манера изложения.</a:t>
            </a:r>
            <a:endParaRPr sz="4000">
              <a:solidFill>
                <a:srgbClr val="0F1115"/>
              </a:solidFill>
              <a:highlight>
                <a:srgbClr val="FFFFFF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Зоны развития (ниже итога):</a:t>
            </a:r>
            <a:b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</a:b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Темп (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4,52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) — скорость подачи материала требует адаптации.</a:t>
            </a:r>
            <a:b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</a:b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Активность и интерес (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4,53</a:t>
            </a:r>
            <a:r>
              <a:rPr lang="ru" sz="4000">
                <a:solidFill>
                  <a:srgbClr val="0F1115"/>
                </a:solidFill>
                <a:highlight>
                  <a:srgbClr val="FFFFFF"/>
                </a:highlight>
                <a:latin typeface="Mulish Medium"/>
                <a:ea typeface="Mulish Medium"/>
                <a:cs typeface="Mulish Medium"/>
                <a:sym typeface="Mulish Medium"/>
              </a:rPr>
              <a:t>) — вовлеченность преподавателей.</a:t>
            </a:r>
            <a:endParaRPr sz="4000">
              <a:solidFill>
                <a:srgbClr val="0F1115"/>
              </a:solidFill>
              <a:highlight>
                <a:srgbClr val="FFFFFF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227" y="325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>
            <p:ph type="title"/>
          </p:nvPr>
        </p:nvSpPr>
        <p:spPr>
          <a:xfrm>
            <a:off x="168700" y="55350"/>
            <a:ext cx="6870300" cy="6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Данные студенческой оценки преподавателей</a:t>
            </a:r>
            <a:br>
              <a:rPr b="1" lang="ru" sz="22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b="1" lang="ru" sz="2200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 квартал 2026 года </a:t>
            </a:r>
            <a:endParaRPr b="1" sz="22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231" name="Google Shape;231;p28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00" y="2757937"/>
            <a:ext cx="3858099" cy="23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/>
        </p:nvSpPr>
        <p:spPr>
          <a:xfrm>
            <a:off x="5193575" y="1086775"/>
            <a:ext cx="37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1 </a:t>
            </a: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Квартал</a:t>
            </a: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:</a:t>
            </a: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Итоговая оценка: 4,47 / 5</a:t>
            </a:r>
            <a:endParaRPr sz="18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pic>
        <p:nvPicPr>
          <p:cNvPr id="233" name="Google Shape;233;p28" title="Диаграмма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3800" y="2694525"/>
            <a:ext cx="4381500" cy="222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/>
        </p:nvSpPr>
        <p:spPr>
          <a:xfrm>
            <a:off x="5193575" y="1764125"/>
            <a:ext cx="37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2</a:t>
            </a:r>
            <a:r>
              <a:rPr lang="ru" sz="18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Квартал :Итоговая оценка: 4,56 / 5</a:t>
            </a:r>
            <a:endParaRPr sz="18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259375" y="213975"/>
            <a:ext cx="8520600" cy="1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Топ-10 положительных инсайтов (почему студенты любят колледж)</a:t>
            </a:r>
            <a:endParaRPr sz="25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240" name="Google Shape;2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2" name="Google Shape;242;p29"/>
          <p:cNvSpPr txBox="1"/>
          <p:nvPr/>
        </p:nvSpPr>
        <p:spPr>
          <a:xfrm>
            <a:off x="134250" y="1199875"/>
            <a:ext cx="8886900" cy="3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Кураторы — «суперсила» Хекслета: Работа кураторов является самым упоминаемым преимуществом. Студенты ценят их за готовность помочь 24/7, решение любых проблем и человеческое отношение.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Отношение как ко взрослым: Главный фактор лояльности - отсутствие «школьного» давления. Студенты ценят уважительное общение, свободу передвижения и отсутствие мелочного контроля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Платформа Hexlet.io: Сама система обучения и онлайн-курсы на сайте признаются мощным образовательным инструментом, который дает реальные навыки, востребованные на ИТ-рынке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ИТ-сообщество и вайб: Студенты выделяют крутое комьюнити, отсутствие токсичности и возможность найти единомышленников и друзей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Гибкость онлайн-обучения: Для студентов дистанционного и очно-заочного форматов критически важна возможность совмещать учебу с работой и личными проектами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Современная инфраструктура (в некоторых филиалах): Отмечаются мощные компьютеры, наличие коворкингов, зон отдыха с пуфиками и микроволновками, а также стильный дизайн помещений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Харизматичные преподаватели-практики: Конкретные педагоги (например, Александр Викторович в Москве, Сергей Сизов, Ярослав Андреевич) вызывают восторг благодаря своему реальному опыту в индустрии и понятной подаче материала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Внеучебная активность: Киберспортивные турниры (CS/Dota), настольные игры, КВН и праздники (например, Хеллоуин) значительно повышают лояльность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Карьерный трек: Возможность получить помощь в составлении резюме, подготовке к собеседованиям и понимание того, как устроена ИТ-индустрия, является важным преимуществом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Отсутствие формализма в общении: Возможность написать преподавателю или сотруднику напрямую в мессенджер без «недельного ожидания» делает процесс комфортным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259375" y="213975"/>
            <a:ext cx="8520600" cy="1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254F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Топ-10 отрицательных инсайтов (главные боли студентов)</a:t>
            </a:r>
            <a:endParaRPr sz="2500">
              <a:solidFill>
                <a:srgbClr val="4254F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252" y="213974"/>
            <a:ext cx="1646449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50" name="Google Shape;250;p30"/>
          <p:cNvSpPr txBox="1"/>
          <p:nvPr/>
        </p:nvSpPr>
        <p:spPr>
          <a:xfrm>
            <a:off x="134250" y="1199875"/>
            <a:ext cx="8886900" cy="3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Несоответствие обещаний по специализации: Самая острая жалоба - отсутствие обещанного разделения на Backend, Mobile и Frontend. Студенты чувствуют себя обманутыми, так как всех учат по программе фронтенда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Организационный хаос в расписании: Нестабильный график, выгрузка расписания в воскресенье вечером и пары до 20:30 (особенно для очников) мешают планировать жизнь и работу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Технические сбои платформ (LMS/Moodle): Студенты жалуются на «сырость» новых систем, баги при входе, неработающие тесты и, самое главное, расхождение баллов между разными платформами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Проблемы с практикой и стажировками: Непрозрачный отбор на практику и случаи, когда студентов-разработчиков отправляют в компании, не связанные с их профилем (например, в VR-проекты без подготовки)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Избыток общеобразовательных предметов: Студенты ИТ-колледжа возмущены большим количеством часов ОБЖ, истории и философии на первых курсах в ущерб программированию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Бытовой дискомфорт : Плохое состояние туалетов (грязные сиденья, отсутствие бумаги, сломанные краны) и отсутствие столовой/буфета являются постоянными источниками негатива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Г</a:t>
            </a: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ео</a:t>
            </a: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графическая удаленность физкультуры: Необходимость ехать 15–30 минут в спортзал, который находится далеко от основного корпуса, вызывает резкое недовольство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Зависимость от площадок-партнеров (Москва): Жалобы на то, что Хекслет является «хвостиком» МГОК, предоставляя вторичные условия при высокой цене обучения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Низкая вовлеченность части педагогов: Критика преподавателей, которые просто читают текст со слайдов или сайта Хекслет, не давая дополнительной ценности на живых парах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sh"/>
              <a:buAutoNum type="arabicPeriod"/>
            </a:pPr>
            <a:r>
              <a:rPr lang="ru"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Проблемы коммуникации с учебной частью: Игнорирование жалоб студентов, долгие ответы по важным вопросам и отсутствие четких инструкций по государственным экзаменам</a:t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